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8941" y="789926"/>
            <a:ext cx="11654117" cy="152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Slide 01 Image 1" descr="slide-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93" y="1669617"/>
            <a:ext cx="4428564" cy="3231518"/>
          </a:xfrm>
          <a:prstGeom prst="rect">
            <a:avLst/>
          </a:prstGeom>
        </p:spPr>
      </p:pic>
      <p:sp>
        <p:nvSpPr>
          <p:cNvPr id="4" name="Slide 01 Text 2: Chapter 27 Case Study"/>
          <p:cNvSpPr txBox="1"/>
          <p:nvPr/>
        </p:nvSpPr>
        <p:spPr>
          <a:xfrm>
            <a:off x="268941" y="1418277"/>
            <a:ext cx="3352799" cy="448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9" b="0" i="0">
                <a:solidFill>
                  <a:srgbClr val="004E8C"/>
                </a:solidFill>
                <a:latin typeface="Nimbus Sans"/>
              </a:rPr>
              <a:t>Chapter 27 Case Study</a:t>
            </a:r>
          </a:p>
        </p:txBody>
      </p:sp>
      <p:sp>
        <p:nvSpPr>
          <p:cNvPr id="5" name="Slide 01 Text 3: Telecom Operator"/>
          <p:cNvSpPr txBox="1"/>
          <p:nvPr/>
        </p:nvSpPr>
        <p:spPr>
          <a:xfrm>
            <a:off x="268941" y="1903005"/>
            <a:ext cx="6239435" cy="861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14141"/>
                </a:solidFill>
                <a:latin typeface="Nimbus Sans"/>
              </a:rPr>
              <a:t>Telecom Operator</a:t>
            </a:r>
          </a:p>
        </p:txBody>
      </p:sp>
      <p:sp>
        <p:nvSpPr>
          <p:cNvPr id="6" name="Slide 01 Text 4: Executive"/>
          <p:cNvSpPr txBox="1"/>
          <p:nvPr/>
        </p:nvSpPr>
        <p:spPr>
          <a:xfrm>
            <a:off x="268941" y="2621120"/>
            <a:ext cx="3496235" cy="861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14141"/>
                </a:solidFill>
                <a:latin typeface="Nimbus Sans"/>
              </a:rPr>
              <a:t>Executive</a:t>
            </a:r>
          </a:p>
        </p:txBody>
      </p:sp>
      <p:sp>
        <p:nvSpPr>
          <p:cNvPr id="7" name="Slide 01 Text 5: Dashboard"/>
          <p:cNvSpPr txBox="1"/>
          <p:nvPr/>
        </p:nvSpPr>
        <p:spPr>
          <a:xfrm>
            <a:off x="268941" y="3159706"/>
            <a:ext cx="3890682" cy="861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14141"/>
                </a:solidFill>
                <a:latin typeface="Nimbus Sans"/>
              </a:rPr>
              <a:t>Dashboard</a:t>
            </a:r>
          </a:p>
        </p:txBody>
      </p:sp>
      <p:sp>
        <p:nvSpPr>
          <p:cNvPr id="8" name="Slide 01 Text 6: Dashboard design for executive d"/>
          <p:cNvSpPr txBox="1"/>
          <p:nvPr/>
        </p:nvSpPr>
        <p:spPr>
          <a:xfrm>
            <a:off x="268941" y="3985539"/>
            <a:ext cx="6723529" cy="448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9" b="0" i="0">
                <a:solidFill>
                  <a:srgbClr val="414141"/>
                </a:solidFill>
                <a:latin typeface="Nimbus Sans"/>
              </a:rPr>
              <a:t>Dashboard design for executive decision-making</a:t>
            </a:r>
          </a:p>
        </p:txBody>
      </p:sp>
      <p:sp>
        <p:nvSpPr>
          <p:cNvPr id="9" name="Slide 01 Text 7: Presenter:"/>
          <p:cNvSpPr txBox="1"/>
          <p:nvPr/>
        </p:nvSpPr>
        <p:spPr>
          <a:xfrm>
            <a:off x="268941" y="4721607"/>
            <a:ext cx="1434352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414141"/>
                </a:solidFill>
                <a:latin typeface="Nimbus Sans"/>
              </a:rPr>
              <a:t>Presenter:</a:t>
            </a:r>
          </a:p>
        </p:txBody>
      </p:sp>
      <p:sp>
        <p:nvSpPr>
          <p:cNvPr id="10" name="Slide 01 Text 8: Tran Nguyen My Anh"/>
          <p:cNvSpPr txBox="1"/>
          <p:nvPr/>
        </p:nvSpPr>
        <p:spPr>
          <a:xfrm>
            <a:off x="1846729" y="4721607"/>
            <a:ext cx="2545976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0" i="0">
                <a:solidFill>
                  <a:srgbClr val="414141"/>
                </a:solidFill>
                <a:latin typeface="Nimbus Sans"/>
              </a:rPr>
              <a:t>Tran Nguyen My Anh</a:t>
            </a:r>
          </a:p>
        </p:txBody>
      </p:sp>
      <p:sp>
        <p:nvSpPr>
          <p:cNvPr id="11" name="Slide 01 Text 9: Course:"/>
          <p:cNvSpPr txBox="1"/>
          <p:nvPr/>
        </p:nvSpPr>
        <p:spPr>
          <a:xfrm>
            <a:off x="268941" y="5044759"/>
            <a:ext cx="1129552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414141"/>
                </a:solidFill>
                <a:latin typeface="Nimbus Sans"/>
              </a:rPr>
              <a:t>Course:</a:t>
            </a:r>
          </a:p>
        </p:txBody>
      </p:sp>
      <p:sp>
        <p:nvSpPr>
          <p:cNvPr id="12" name="Slide 01 Text 10: Data Visualization / Dashboard D"/>
          <p:cNvSpPr txBox="1"/>
          <p:nvPr/>
        </p:nvSpPr>
        <p:spPr>
          <a:xfrm>
            <a:off x="1846729" y="5044759"/>
            <a:ext cx="4536141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0" i="0">
                <a:solidFill>
                  <a:srgbClr val="414141"/>
                </a:solidFill>
                <a:latin typeface="Nimbus Sans"/>
              </a:rPr>
              <a:t>Data Visualization / Dashboard Design</a:t>
            </a:r>
          </a:p>
        </p:txBody>
      </p:sp>
      <p:sp>
        <p:nvSpPr>
          <p:cNvPr id="13" name="Slide 01 Text 11: Source:"/>
          <p:cNvSpPr txBox="1"/>
          <p:nvPr/>
        </p:nvSpPr>
        <p:spPr>
          <a:xfrm>
            <a:off x="268941" y="5367910"/>
            <a:ext cx="1129552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414141"/>
                </a:solidFill>
                <a:latin typeface="Nimbus Sans"/>
              </a:rPr>
              <a:t>Source:</a:t>
            </a:r>
          </a:p>
        </p:txBody>
      </p:sp>
      <p:sp>
        <p:nvSpPr>
          <p:cNvPr id="14" name="Slide 01 Text 12: The Big Book of Dashboards"/>
          <p:cNvSpPr txBox="1"/>
          <p:nvPr/>
        </p:nvSpPr>
        <p:spPr>
          <a:xfrm>
            <a:off x="1846729" y="5367910"/>
            <a:ext cx="3424517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0" i="1">
                <a:solidFill>
                  <a:srgbClr val="414141"/>
                </a:solidFill>
                <a:latin typeface="Nimbus Sans"/>
              </a:rPr>
              <a:t>The Big Book of Dashboards</a:t>
            </a:r>
          </a:p>
        </p:txBody>
      </p:sp>
      <p:sp>
        <p:nvSpPr>
          <p:cNvPr id="15" name="Slide 01 Text 13: , Chapter 27"/>
          <p:cNvSpPr txBox="1"/>
          <p:nvPr/>
        </p:nvSpPr>
        <p:spPr>
          <a:xfrm>
            <a:off x="5109882" y="5367910"/>
            <a:ext cx="1577788" cy="3949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0" i="0">
                <a:solidFill>
                  <a:srgbClr val="414141"/>
                </a:solidFill>
                <a:latin typeface="Nimbus Sans"/>
              </a:rPr>
              <a:t>, Chapter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1759382"/>
            <a:ext cx="5916705" cy="2369780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1759382"/>
            <a:ext cx="5916705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8941" y="4542078"/>
            <a:ext cx="5916705" cy="1184890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8941" y="4542078"/>
            <a:ext cx="5916705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lide 02 Image 1" descr="slide-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70" y="1831193"/>
            <a:ext cx="4894729" cy="3572623"/>
          </a:xfrm>
          <a:prstGeom prst="rect">
            <a:avLst/>
          </a:prstGeom>
        </p:spPr>
      </p:pic>
      <p:sp>
        <p:nvSpPr>
          <p:cNvPr id="7" name="Slide 02 Text 5: Scenario and Business Context"/>
          <p:cNvSpPr txBox="1"/>
          <p:nvPr/>
        </p:nvSpPr>
        <p:spPr>
          <a:xfrm>
            <a:off x="233082" y="251340"/>
            <a:ext cx="5665693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Scenario and Business Context</a:t>
            </a:r>
          </a:p>
        </p:txBody>
      </p:sp>
      <p:sp>
        <p:nvSpPr>
          <p:cNvPr id="8" name="Slide 02 Text 6: Who uses it?"/>
          <p:cNvSpPr txBox="1"/>
          <p:nvPr/>
        </p:nvSpPr>
        <p:spPr>
          <a:xfrm>
            <a:off x="268941" y="1759382"/>
            <a:ext cx="1613647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Who uses it?</a:t>
            </a:r>
          </a:p>
        </p:txBody>
      </p:sp>
      <p:sp>
        <p:nvSpPr>
          <p:cNvPr id="9" name="Slide 02 Text 7: •"/>
          <p:cNvSpPr txBox="1"/>
          <p:nvPr/>
        </p:nvSpPr>
        <p:spPr>
          <a:xfrm>
            <a:off x="537882" y="2082534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0" name="Slide 02 Text 8: Executives and senior management"/>
          <p:cNvSpPr txBox="1"/>
          <p:nvPr/>
        </p:nvSpPr>
        <p:spPr>
          <a:xfrm>
            <a:off x="806823" y="2136392"/>
            <a:ext cx="51278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Executives and senior management at a telecom</a:t>
            </a:r>
          </a:p>
        </p:txBody>
      </p:sp>
      <p:sp>
        <p:nvSpPr>
          <p:cNvPr id="11" name="Slide 02 Text 9: company."/>
          <p:cNvSpPr txBox="1"/>
          <p:nvPr/>
        </p:nvSpPr>
        <p:spPr>
          <a:xfrm>
            <a:off x="806823" y="2441591"/>
            <a:ext cx="114748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company.</a:t>
            </a:r>
          </a:p>
        </p:txBody>
      </p:sp>
      <p:sp>
        <p:nvSpPr>
          <p:cNvPr id="12" name="Slide 02 Text 10: •"/>
          <p:cNvSpPr txBox="1"/>
          <p:nvPr/>
        </p:nvSpPr>
        <p:spPr>
          <a:xfrm>
            <a:off x="537882" y="2782696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3" name="Slide 02 Text 11: Used in management, board, or st"/>
          <p:cNvSpPr txBox="1"/>
          <p:nvPr/>
        </p:nvSpPr>
        <p:spPr>
          <a:xfrm>
            <a:off x="806823" y="2836554"/>
            <a:ext cx="4643717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Used in management, board, or stakeholder</a:t>
            </a:r>
          </a:p>
        </p:txBody>
      </p:sp>
      <p:sp>
        <p:nvSpPr>
          <p:cNvPr id="14" name="Slide 02 Text 12: meetings."/>
          <p:cNvSpPr txBox="1"/>
          <p:nvPr/>
        </p:nvSpPr>
        <p:spPr>
          <a:xfrm>
            <a:off x="806823" y="3141753"/>
            <a:ext cx="11654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meetings.</a:t>
            </a:r>
          </a:p>
        </p:txBody>
      </p:sp>
      <p:sp>
        <p:nvSpPr>
          <p:cNvPr id="15" name="Slide 02 Text 13: •"/>
          <p:cNvSpPr txBox="1"/>
          <p:nvPr/>
        </p:nvSpPr>
        <p:spPr>
          <a:xfrm>
            <a:off x="537882" y="3482858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6" name="Slide 02 Text 14: The goal is executive-level moni"/>
          <p:cNvSpPr txBox="1"/>
          <p:nvPr/>
        </p:nvSpPr>
        <p:spPr>
          <a:xfrm>
            <a:off x="806823" y="3536717"/>
            <a:ext cx="5002305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The goal is executive-level monitoring, not deep</a:t>
            </a:r>
          </a:p>
        </p:txBody>
      </p:sp>
      <p:sp>
        <p:nvSpPr>
          <p:cNvPr id="17" name="Slide 02 Text 15: interactive analysis."/>
          <p:cNvSpPr txBox="1"/>
          <p:nvPr/>
        </p:nvSpPr>
        <p:spPr>
          <a:xfrm>
            <a:off x="806823" y="3823963"/>
            <a:ext cx="216945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interactive analysis.</a:t>
            </a:r>
          </a:p>
        </p:txBody>
      </p:sp>
      <p:sp>
        <p:nvSpPr>
          <p:cNvPr id="18" name="Slide 02 Text 16: What must it answer quickly?"/>
          <p:cNvSpPr txBox="1"/>
          <p:nvPr/>
        </p:nvSpPr>
        <p:spPr>
          <a:xfrm>
            <a:off x="268941" y="4542078"/>
            <a:ext cx="338865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What must it answer quickly?</a:t>
            </a:r>
          </a:p>
        </p:txBody>
      </p:sp>
      <p:sp>
        <p:nvSpPr>
          <p:cNvPr id="19" name="Slide 02 Text 17: •"/>
          <p:cNvSpPr txBox="1"/>
          <p:nvPr/>
        </p:nvSpPr>
        <p:spPr>
          <a:xfrm>
            <a:off x="537882" y="4883183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0" name="Slide 02 Text 18: Is the company on track against "/>
          <p:cNvSpPr txBox="1"/>
          <p:nvPr/>
        </p:nvSpPr>
        <p:spPr>
          <a:xfrm>
            <a:off x="806823" y="4937041"/>
            <a:ext cx="5074023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Is the company on track against strategic goals?</a:t>
            </a:r>
          </a:p>
        </p:txBody>
      </p:sp>
      <p:sp>
        <p:nvSpPr>
          <p:cNvPr id="21" name="Slide 02 Text 19: •"/>
          <p:cNvSpPr txBox="1"/>
          <p:nvPr/>
        </p:nvSpPr>
        <p:spPr>
          <a:xfrm>
            <a:off x="537882" y="5278146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2" name="Slide 02 Text 20: Which metrics are improving or w"/>
          <p:cNvSpPr txBox="1"/>
          <p:nvPr/>
        </p:nvSpPr>
        <p:spPr>
          <a:xfrm>
            <a:off x="806823" y="5332005"/>
            <a:ext cx="45719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Which metrics are improving or worsening?</a:t>
            </a:r>
          </a:p>
        </p:txBody>
      </p:sp>
      <p:sp>
        <p:nvSpPr>
          <p:cNvPr id="23" name="Slide 02 Text 21: 2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4506172"/>
            <a:ext cx="11654117" cy="1867099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4506172"/>
            <a:ext cx="11654117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lide 03 Image 1" descr="slide-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752" y="915596"/>
            <a:ext cx="4446494" cy="3249471"/>
          </a:xfrm>
          <a:prstGeom prst="rect">
            <a:avLst/>
          </a:prstGeom>
        </p:spPr>
      </p:pic>
      <p:sp>
        <p:nvSpPr>
          <p:cNvPr id="5" name="Slide 03 Text 3: Dashboard Design Logic"/>
          <p:cNvSpPr txBox="1"/>
          <p:nvPr/>
        </p:nvSpPr>
        <p:spPr>
          <a:xfrm>
            <a:off x="233082" y="251340"/>
            <a:ext cx="4482352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Dashboard Design Logic</a:t>
            </a:r>
          </a:p>
        </p:txBody>
      </p:sp>
      <p:sp>
        <p:nvSpPr>
          <p:cNvPr id="6" name="Slide 03 Text 4: The dashboard is structured arou"/>
          <p:cNvSpPr txBox="1"/>
          <p:nvPr/>
        </p:nvSpPr>
        <p:spPr>
          <a:xfrm>
            <a:off x="268941" y="4506172"/>
            <a:ext cx="663388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The dashboard is structured around four information zones</a:t>
            </a:r>
          </a:p>
        </p:txBody>
      </p:sp>
      <p:sp>
        <p:nvSpPr>
          <p:cNvPr id="7" name="Slide 03 Text 5: •"/>
          <p:cNvSpPr txBox="1"/>
          <p:nvPr/>
        </p:nvSpPr>
        <p:spPr>
          <a:xfrm>
            <a:off x="537882" y="4829324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8" name="Slide 03 Text 6: Row 1:"/>
          <p:cNvSpPr txBox="1"/>
          <p:nvPr/>
        </p:nvSpPr>
        <p:spPr>
          <a:xfrm>
            <a:off x="806823" y="4883183"/>
            <a:ext cx="896470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Row 1:</a:t>
            </a:r>
          </a:p>
        </p:txBody>
      </p:sp>
      <p:sp>
        <p:nvSpPr>
          <p:cNvPr id="9" name="Slide 03 Text 7: Reduce Subscriber Acquisition Co"/>
          <p:cNvSpPr txBox="1"/>
          <p:nvPr/>
        </p:nvSpPr>
        <p:spPr>
          <a:xfrm>
            <a:off x="1595717" y="4883183"/>
            <a:ext cx="4159623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Reduce Subscriber Acquisition Cost</a:t>
            </a:r>
          </a:p>
        </p:txBody>
      </p:sp>
      <p:sp>
        <p:nvSpPr>
          <p:cNvPr id="10" name="Slide 03 Text 8: ."/>
          <p:cNvSpPr txBox="1"/>
          <p:nvPr/>
        </p:nvSpPr>
        <p:spPr>
          <a:xfrm>
            <a:off x="5558117" y="4883183"/>
            <a:ext cx="2510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.</a:t>
            </a:r>
          </a:p>
        </p:txBody>
      </p:sp>
      <p:sp>
        <p:nvSpPr>
          <p:cNvPr id="11" name="Slide 03 Text 9: •"/>
          <p:cNvSpPr txBox="1"/>
          <p:nvPr/>
        </p:nvSpPr>
        <p:spPr>
          <a:xfrm>
            <a:off x="537882" y="5242240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2" name="Slide 03 Text 10: Row 2:"/>
          <p:cNvSpPr txBox="1"/>
          <p:nvPr/>
        </p:nvSpPr>
        <p:spPr>
          <a:xfrm>
            <a:off x="806823" y="5296099"/>
            <a:ext cx="896470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Row 2:</a:t>
            </a:r>
          </a:p>
        </p:txBody>
      </p:sp>
      <p:sp>
        <p:nvSpPr>
          <p:cNvPr id="13" name="Slide 03 Text 11: Increase Average Revenue Per Use"/>
          <p:cNvSpPr txBox="1"/>
          <p:nvPr/>
        </p:nvSpPr>
        <p:spPr>
          <a:xfrm>
            <a:off x="1595717" y="5278146"/>
            <a:ext cx="4087905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Increase Average Revenue Per User</a:t>
            </a:r>
          </a:p>
        </p:txBody>
      </p:sp>
      <p:sp>
        <p:nvSpPr>
          <p:cNvPr id="14" name="Slide 03 Text 12: ."/>
          <p:cNvSpPr txBox="1"/>
          <p:nvPr/>
        </p:nvSpPr>
        <p:spPr>
          <a:xfrm>
            <a:off x="5486399" y="5296099"/>
            <a:ext cx="2510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.</a:t>
            </a:r>
          </a:p>
        </p:txBody>
      </p:sp>
      <p:sp>
        <p:nvSpPr>
          <p:cNvPr id="15" name="Slide 03 Text 13: •"/>
          <p:cNvSpPr txBox="1"/>
          <p:nvPr/>
        </p:nvSpPr>
        <p:spPr>
          <a:xfrm>
            <a:off x="537882" y="5637204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6" name="Slide 03 Text 14: Row 3:"/>
          <p:cNvSpPr txBox="1"/>
          <p:nvPr/>
        </p:nvSpPr>
        <p:spPr>
          <a:xfrm>
            <a:off x="806823" y="5691062"/>
            <a:ext cx="896470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Row 3:</a:t>
            </a:r>
          </a:p>
        </p:txBody>
      </p:sp>
      <p:sp>
        <p:nvSpPr>
          <p:cNvPr id="17" name="Slide 03 Text 15: Reduce Churn"/>
          <p:cNvSpPr txBox="1"/>
          <p:nvPr/>
        </p:nvSpPr>
        <p:spPr>
          <a:xfrm>
            <a:off x="1595717" y="5691062"/>
            <a:ext cx="173915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Reduce Churn</a:t>
            </a:r>
          </a:p>
        </p:txBody>
      </p:sp>
      <p:sp>
        <p:nvSpPr>
          <p:cNvPr id="18" name="Slide 03 Text 16: ."/>
          <p:cNvSpPr txBox="1"/>
          <p:nvPr/>
        </p:nvSpPr>
        <p:spPr>
          <a:xfrm>
            <a:off x="3155576" y="5691062"/>
            <a:ext cx="2510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.</a:t>
            </a:r>
          </a:p>
        </p:txBody>
      </p:sp>
      <p:sp>
        <p:nvSpPr>
          <p:cNvPr id="19" name="Slide 03 Text 17: •"/>
          <p:cNvSpPr txBox="1"/>
          <p:nvPr/>
        </p:nvSpPr>
        <p:spPr>
          <a:xfrm>
            <a:off x="537882" y="6050120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0" name="Slide 03 Text 18: Right column:"/>
          <p:cNvSpPr txBox="1"/>
          <p:nvPr/>
        </p:nvSpPr>
        <p:spPr>
          <a:xfrm>
            <a:off x="806823" y="6086026"/>
            <a:ext cx="157778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Right column:</a:t>
            </a:r>
          </a:p>
        </p:txBody>
      </p:sp>
      <p:sp>
        <p:nvSpPr>
          <p:cNvPr id="21" name="Slide 03 Text 19: Executive Summary"/>
          <p:cNvSpPr txBox="1"/>
          <p:nvPr/>
        </p:nvSpPr>
        <p:spPr>
          <a:xfrm>
            <a:off x="2277035" y="6086026"/>
            <a:ext cx="234875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Executive Summary</a:t>
            </a:r>
          </a:p>
        </p:txBody>
      </p:sp>
      <p:sp>
        <p:nvSpPr>
          <p:cNvPr id="22" name="Slide 03 Text 20: for finance and subscriber statu"/>
          <p:cNvSpPr txBox="1"/>
          <p:nvPr/>
        </p:nvSpPr>
        <p:spPr>
          <a:xfrm>
            <a:off x="4518211" y="6086026"/>
            <a:ext cx="3550023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for finance and subscriber status.</a:t>
            </a:r>
          </a:p>
        </p:txBody>
      </p:sp>
      <p:sp>
        <p:nvSpPr>
          <p:cNvPr id="23" name="Slide 03 Text 21: 3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4793418"/>
            <a:ext cx="3550023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4793418"/>
            <a:ext cx="3550023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846" y="4793418"/>
            <a:ext cx="3550023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6846" y="4793418"/>
            <a:ext cx="3550023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26823" y="4793418"/>
            <a:ext cx="3496235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26823" y="4793418"/>
            <a:ext cx="3496235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lide 04 Image 1" descr="slide-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2" y="1274654"/>
            <a:ext cx="10542493" cy="2782696"/>
          </a:xfrm>
          <a:prstGeom prst="rect">
            <a:avLst/>
          </a:prstGeom>
        </p:spPr>
      </p:pic>
      <p:sp>
        <p:nvSpPr>
          <p:cNvPr id="9" name="Slide 04 Text 7: Goal 1: Reduce SAC"/>
          <p:cNvSpPr txBox="1"/>
          <p:nvPr/>
        </p:nvSpPr>
        <p:spPr>
          <a:xfrm>
            <a:off x="233082" y="251340"/>
            <a:ext cx="3729317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Goal 1: Reduce SAC</a:t>
            </a:r>
          </a:p>
        </p:txBody>
      </p:sp>
      <p:sp>
        <p:nvSpPr>
          <p:cNvPr id="10" name="Slide 04 Text 8: Status"/>
          <p:cNvSpPr txBox="1"/>
          <p:nvPr/>
        </p:nvSpPr>
        <p:spPr>
          <a:xfrm>
            <a:off x="268941" y="4793418"/>
            <a:ext cx="87854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Status</a:t>
            </a:r>
          </a:p>
        </p:txBody>
      </p:sp>
      <p:sp>
        <p:nvSpPr>
          <p:cNvPr id="11" name="Slide 04 Text 9: •"/>
          <p:cNvSpPr txBox="1"/>
          <p:nvPr/>
        </p:nvSpPr>
        <p:spPr>
          <a:xfrm>
            <a:off x="268941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2" name="Slide 04 Text 10: $16"/>
          <p:cNvSpPr txBox="1"/>
          <p:nvPr/>
        </p:nvSpPr>
        <p:spPr>
          <a:xfrm>
            <a:off x="448235" y="5134523"/>
            <a:ext cx="48409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272D"/>
                </a:solidFill>
                <a:latin typeface="Nimbus Sans"/>
              </a:rPr>
              <a:t>$16</a:t>
            </a:r>
          </a:p>
        </p:txBody>
      </p:sp>
      <p:sp>
        <p:nvSpPr>
          <p:cNvPr id="13" name="Slide 04 Text 11: /month of contract."/>
          <p:cNvSpPr txBox="1"/>
          <p:nvPr/>
        </p:nvSpPr>
        <p:spPr>
          <a:xfrm>
            <a:off x="735105" y="5134523"/>
            <a:ext cx="164950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/month of contract.</a:t>
            </a:r>
          </a:p>
        </p:txBody>
      </p:sp>
      <p:sp>
        <p:nvSpPr>
          <p:cNvPr id="14" name="Slide 04 Text 12: •"/>
          <p:cNvSpPr txBox="1"/>
          <p:nvPr/>
        </p:nvSpPr>
        <p:spPr>
          <a:xfrm>
            <a:off x="268941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5" name="Slide 04 Text 13: +4 YTD"/>
          <p:cNvSpPr txBox="1"/>
          <p:nvPr/>
        </p:nvSpPr>
        <p:spPr>
          <a:xfrm>
            <a:off x="448235" y="5349958"/>
            <a:ext cx="78889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272D"/>
                </a:solidFill>
                <a:latin typeface="Nimbus Sans"/>
              </a:rPr>
              <a:t>+4 YTD</a:t>
            </a:r>
          </a:p>
        </p:txBody>
      </p:sp>
      <p:sp>
        <p:nvSpPr>
          <p:cNvPr id="16" name="Slide 04 Text 14: above benchmark."/>
          <p:cNvSpPr txBox="1"/>
          <p:nvPr/>
        </p:nvSpPr>
        <p:spPr>
          <a:xfrm>
            <a:off x="1093694" y="5349958"/>
            <a:ext cx="1631576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above benchmark.</a:t>
            </a:r>
          </a:p>
        </p:txBody>
      </p:sp>
      <p:sp>
        <p:nvSpPr>
          <p:cNvPr id="17" name="Slide 04 Text 15: Drivers"/>
          <p:cNvSpPr txBox="1"/>
          <p:nvPr/>
        </p:nvSpPr>
        <p:spPr>
          <a:xfrm>
            <a:off x="4356846" y="4793418"/>
            <a:ext cx="96818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Drivers</a:t>
            </a:r>
          </a:p>
        </p:txBody>
      </p:sp>
      <p:sp>
        <p:nvSpPr>
          <p:cNvPr id="18" name="Slide 04 Text 16: •"/>
          <p:cNvSpPr txBox="1"/>
          <p:nvPr/>
        </p:nvSpPr>
        <p:spPr>
          <a:xfrm>
            <a:off x="4356846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9" name="Slide 04 Text 17: Contract term changes cost."/>
          <p:cNvSpPr txBox="1"/>
          <p:nvPr/>
        </p:nvSpPr>
        <p:spPr>
          <a:xfrm>
            <a:off x="4518211" y="5116570"/>
            <a:ext cx="2402541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Contract term changes cost.</a:t>
            </a:r>
          </a:p>
        </p:txBody>
      </p:sp>
      <p:sp>
        <p:nvSpPr>
          <p:cNvPr id="20" name="Slide 04 Text 18: •"/>
          <p:cNvSpPr txBox="1"/>
          <p:nvPr/>
        </p:nvSpPr>
        <p:spPr>
          <a:xfrm>
            <a:off x="4356846" y="5314052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1" name="Slide 04 Text 19: ODM device mix adds pressure."/>
          <p:cNvSpPr txBox="1"/>
          <p:nvPr/>
        </p:nvSpPr>
        <p:spPr>
          <a:xfrm>
            <a:off x="4518211" y="5332005"/>
            <a:ext cx="2707341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ODM device mix adds pressure.</a:t>
            </a:r>
          </a:p>
        </p:txBody>
      </p:sp>
      <p:sp>
        <p:nvSpPr>
          <p:cNvPr id="22" name="Slide 04 Text 20: Operational signal"/>
          <p:cNvSpPr txBox="1"/>
          <p:nvPr/>
        </p:nvSpPr>
        <p:spPr>
          <a:xfrm>
            <a:off x="8426823" y="4793418"/>
            <a:ext cx="216945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Operational signal</a:t>
            </a:r>
          </a:p>
        </p:txBody>
      </p:sp>
      <p:sp>
        <p:nvSpPr>
          <p:cNvPr id="23" name="Slide 04 Text 21: •"/>
          <p:cNvSpPr txBox="1"/>
          <p:nvPr/>
        </p:nvSpPr>
        <p:spPr>
          <a:xfrm>
            <a:off x="8426823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4" name="Slide 04 Text 22: Service calls show burden."/>
          <p:cNvSpPr txBox="1"/>
          <p:nvPr/>
        </p:nvSpPr>
        <p:spPr>
          <a:xfrm>
            <a:off x="8606117" y="5134523"/>
            <a:ext cx="229496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Service calls show burden.</a:t>
            </a:r>
          </a:p>
        </p:txBody>
      </p:sp>
      <p:sp>
        <p:nvSpPr>
          <p:cNvPr id="25" name="Slide 04 Text 23: •"/>
          <p:cNvSpPr txBox="1"/>
          <p:nvPr/>
        </p:nvSpPr>
        <p:spPr>
          <a:xfrm>
            <a:off x="8426823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6" name="Slide 04 Text 24: Target lines show FY2014 gap."/>
          <p:cNvSpPr txBox="1"/>
          <p:nvPr/>
        </p:nvSpPr>
        <p:spPr>
          <a:xfrm>
            <a:off x="8606117" y="5349958"/>
            <a:ext cx="261769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Target lines show FY2014 gap.</a:t>
            </a:r>
          </a:p>
        </p:txBody>
      </p:sp>
      <p:sp>
        <p:nvSpPr>
          <p:cNvPr id="27" name="Slide 04 Text 25: 4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4793418"/>
            <a:ext cx="3550023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4793418"/>
            <a:ext cx="3550023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846" y="4793418"/>
            <a:ext cx="3550023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6846" y="4793418"/>
            <a:ext cx="3550023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26823" y="4793418"/>
            <a:ext cx="3496235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26823" y="4793418"/>
            <a:ext cx="3496235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lide 05 Image 1" descr="slide-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8" y="1274654"/>
            <a:ext cx="10273552" cy="2782696"/>
          </a:xfrm>
          <a:prstGeom prst="rect">
            <a:avLst/>
          </a:prstGeom>
        </p:spPr>
      </p:pic>
      <p:sp>
        <p:nvSpPr>
          <p:cNvPr id="9" name="Slide 05 Text 7: Goal 2: Increase ARPU"/>
          <p:cNvSpPr txBox="1"/>
          <p:nvPr/>
        </p:nvSpPr>
        <p:spPr>
          <a:xfrm>
            <a:off x="233082" y="251340"/>
            <a:ext cx="4177552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Goal 2: Increase ARPU</a:t>
            </a:r>
          </a:p>
        </p:txBody>
      </p:sp>
      <p:sp>
        <p:nvSpPr>
          <p:cNvPr id="10" name="Slide 05 Text 8: Status"/>
          <p:cNvSpPr txBox="1"/>
          <p:nvPr/>
        </p:nvSpPr>
        <p:spPr>
          <a:xfrm>
            <a:off x="268941" y="4793418"/>
            <a:ext cx="87854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Status</a:t>
            </a:r>
          </a:p>
        </p:txBody>
      </p:sp>
      <p:sp>
        <p:nvSpPr>
          <p:cNvPr id="11" name="Slide 05 Text 9: •"/>
          <p:cNvSpPr txBox="1"/>
          <p:nvPr/>
        </p:nvSpPr>
        <p:spPr>
          <a:xfrm>
            <a:off x="268941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2" name="Slide 05 Text 10: $68"/>
          <p:cNvSpPr txBox="1"/>
          <p:nvPr/>
        </p:nvSpPr>
        <p:spPr>
          <a:xfrm>
            <a:off x="448235" y="5134523"/>
            <a:ext cx="48409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9E74"/>
                </a:solidFill>
                <a:latin typeface="Nimbus Sans"/>
              </a:rPr>
              <a:t>$68</a:t>
            </a:r>
          </a:p>
        </p:txBody>
      </p:sp>
      <p:sp>
        <p:nvSpPr>
          <p:cNvPr id="13" name="Slide 05 Text 11: monthly postpaid."/>
          <p:cNvSpPr txBox="1"/>
          <p:nvPr/>
        </p:nvSpPr>
        <p:spPr>
          <a:xfrm>
            <a:off x="788894" y="5134523"/>
            <a:ext cx="1577788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monthly postpaid.</a:t>
            </a:r>
          </a:p>
        </p:txBody>
      </p:sp>
      <p:sp>
        <p:nvSpPr>
          <p:cNvPr id="14" name="Slide 05 Text 12: •"/>
          <p:cNvSpPr txBox="1"/>
          <p:nvPr/>
        </p:nvSpPr>
        <p:spPr>
          <a:xfrm>
            <a:off x="268941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5" name="Slide 05 Text 13: +6 YTD"/>
          <p:cNvSpPr txBox="1"/>
          <p:nvPr/>
        </p:nvSpPr>
        <p:spPr>
          <a:xfrm>
            <a:off x="448235" y="5349958"/>
            <a:ext cx="78889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9E74"/>
                </a:solidFill>
                <a:latin typeface="Nimbus Sans"/>
              </a:rPr>
              <a:t>+6 YTD</a:t>
            </a:r>
          </a:p>
        </p:txBody>
      </p:sp>
      <p:sp>
        <p:nvSpPr>
          <p:cNvPr id="16" name="Slide 05 Text 14: revenue lift."/>
          <p:cNvSpPr txBox="1"/>
          <p:nvPr/>
        </p:nvSpPr>
        <p:spPr>
          <a:xfrm>
            <a:off x="1093694" y="5349958"/>
            <a:ext cx="1093694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revenue lift.</a:t>
            </a:r>
          </a:p>
        </p:txBody>
      </p:sp>
      <p:sp>
        <p:nvSpPr>
          <p:cNvPr id="17" name="Slide 05 Text 15: Revenue mix"/>
          <p:cNvSpPr txBox="1"/>
          <p:nvPr/>
        </p:nvSpPr>
        <p:spPr>
          <a:xfrm>
            <a:off x="4356846" y="4793418"/>
            <a:ext cx="1595717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Revenue mix</a:t>
            </a:r>
          </a:p>
        </p:txBody>
      </p:sp>
      <p:sp>
        <p:nvSpPr>
          <p:cNvPr id="18" name="Slide 05 Text 16: •"/>
          <p:cNvSpPr txBox="1"/>
          <p:nvPr/>
        </p:nvSpPr>
        <p:spPr>
          <a:xfrm>
            <a:off x="4356846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9" name="Slide 05 Text 17: Postpaid/prepaid split."/>
          <p:cNvSpPr txBox="1"/>
          <p:nvPr/>
        </p:nvSpPr>
        <p:spPr>
          <a:xfrm>
            <a:off x="4518211" y="5134523"/>
            <a:ext cx="1918447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Postpaid/prepaid split.</a:t>
            </a:r>
          </a:p>
        </p:txBody>
      </p:sp>
      <p:sp>
        <p:nvSpPr>
          <p:cNvPr id="20" name="Slide 05 Text 18: •"/>
          <p:cNvSpPr txBox="1"/>
          <p:nvPr/>
        </p:nvSpPr>
        <p:spPr>
          <a:xfrm>
            <a:off x="4356846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1" name="Slide 05 Text 19: Add-ons show contribution."/>
          <p:cNvSpPr txBox="1"/>
          <p:nvPr/>
        </p:nvSpPr>
        <p:spPr>
          <a:xfrm>
            <a:off x="4518211" y="5332005"/>
            <a:ext cx="2330823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Add-ons show contribution.</a:t>
            </a:r>
          </a:p>
        </p:txBody>
      </p:sp>
      <p:sp>
        <p:nvSpPr>
          <p:cNvPr id="22" name="Slide 05 Text 20: Conversion"/>
          <p:cNvSpPr txBox="1"/>
          <p:nvPr/>
        </p:nvSpPr>
        <p:spPr>
          <a:xfrm>
            <a:off x="8426823" y="4793418"/>
            <a:ext cx="143435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Conversion</a:t>
            </a:r>
          </a:p>
        </p:txBody>
      </p:sp>
      <p:sp>
        <p:nvSpPr>
          <p:cNvPr id="23" name="Slide 05 Text 21: •"/>
          <p:cNvSpPr txBox="1"/>
          <p:nvPr/>
        </p:nvSpPr>
        <p:spPr>
          <a:xfrm>
            <a:off x="8426823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4" name="Slide 05 Text 22: Offers compared with accepts."/>
          <p:cNvSpPr txBox="1"/>
          <p:nvPr/>
        </p:nvSpPr>
        <p:spPr>
          <a:xfrm>
            <a:off x="8606117" y="5134523"/>
            <a:ext cx="258183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Offers compared with accepts.</a:t>
            </a:r>
          </a:p>
        </p:txBody>
      </p:sp>
      <p:sp>
        <p:nvSpPr>
          <p:cNvPr id="25" name="Slide 05 Text 23: •"/>
          <p:cNvSpPr txBox="1"/>
          <p:nvPr/>
        </p:nvSpPr>
        <p:spPr>
          <a:xfrm>
            <a:off x="8426823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6" name="Slide 05 Text 24: Gaps show upgrade room."/>
          <p:cNvSpPr txBox="1"/>
          <p:nvPr/>
        </p:nvSpPr>
        <p:spPr>
          <a:xfrm>
            <a:off x="8606117" y="5332005"/>
            <a:ext cx="227703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Gaps show upgrade room.</a:t>
            </a:r>
          </a:p>
        </p:txBody>
      </p:sp>
      <p:sp>
        <p:nvSpPr>
          <p:cNvPr id="27" name="Slide 05 Text 25: 5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4793418"/>
            <a:ext cx="3550023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4793418"/>
            <a:ext cx="3550023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846" y="4793418"/>
            <a:ext cx="3550023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6846" y="4793418"/>
            <a:ext cx="3550023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26823" y="4793418"/>
            <a:ext cx="3496235" cy="1095125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26823" y="4793418"/>
            <a:ext cx="3496235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lide 06 Image 1" descr="slide-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8" y="1274654"/>
            <a:ext cx="10273552" cy="2782696"/>
          </a:xfrm>
          <a:prstGeom prst="rect">
            <a:avLst/>
          </a:prstGeom>
        </p:spPr>
      </p:pic>
      <p:sp>
        <p:nvSpPr>
          <p:cNvPr id="9" name="Slide 06 Text 7: Goal 3: Reduce Churn"/>
          <p:cNvSpPr txBox="1"/>
          <p:nvPr/>
        </p:nvSpPr>
        <p:spPr>
          <a:xfrm>
            <a:off x="233082" y="251340"/>
            <a:ext cx="4052046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Goal 3: Reduce Churn</a:t>
            </a:r>
          </a:p>
        </p:txBody>
      </p:sp>
      <p:sp>
        <p:nvSpPr>
          <p:cNvPr id="10" name="Slide 06 Text 8: Status"/>
          <p:cNvSpPr txBox="1"/>
          <p:nvPr/>
        </p:nvSpPr>
        <p:spPr>
          <a:xfrm>
            <a:off x="268941" y="4793418"/>
            <a:ext cx="87854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Status</a:t>
            </a:r>
          </a:p>
        </p:txBody>
      </p:sp>
      <p:sp>
        <p:nvSpPr>
          <p:cNvPr id="11" name="Slide 06 Text 9: •"/>
          <p:cNvSpPr txBox="1"/>
          <p:nvPr/>
        </p:nvSpPr>
        <p:spPr>
          <a:xfrm>
            <a:off x="268941" y="5098617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2" name="Slide 06 Text 10: 1.43%"/>
          <p:cNvSpPr txBox="1"/>
          <p:nvPr/>
        </p:nvSpPr>
        <p:spPr>
          <a:xfrm>
            <a:off x="448235" y="5116570"/>
            <a:ext cx="681317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9E74"/>
                </a:solidFill>
                <a:latin typeface="Nimbus Sans"/>
              </a:rPr>
              <a:t>1.43%</a:t>
            </a:r>
          </a:p>
        </p:txBody>
      </p:sp>
      <p:sp>
        <p:nvSpPr>
          <p:cNvPr id="13" name="Slide 06 Text 11: monthly churn."/>
          <p:cNvSpPr txBox="1"/>
          <p:nvPr/>
        </p:nvSpPr>
        <p:spPr>
          <a:xfrm>
            <a:off x="986117" y="5116570"/>
            <a:ext cx="134470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monthly churn.</a:t>
            </a:r>
          </a:p>
        </p:txBody>
      </p:sp>
      <p:sp>
        <p:nvSpPr>
          <p:cNvPr id="14" name="Slide 06 Text 12: •"/>
          <p:cNvSpPr txBox="1"/>
          <p:nvPr/>
        </p:nvSpPr>
        <p:spPr>
          <a:xfrm>
            <a:off x="268941" y="5314052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5" name="Slide 06 Text 13: -0.18 YTD"/>
          <p:cNvSpPr txBox="1"/>
          <p:nvPr/>
        </p:nvSpPr>
        <p:spPr>
          <a:xfrm>
            <a:off x="448235" y="5332005"/>
            <a:ext cx="986117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9E74"/>
                </a:solidFill>
                <a:latin typeface="Nimbus Sans"/>
              </a:rPr>
              <a:t>-0.18 YTD</a:t>
            </a:r>
          </a:p>
        </p:txBody>
      </p:sp>
      <p:sp>
        <p:nvSpPr>
          <p:cNvPr id="16" name="Slide 06 Text 14: improvement."/>
          <p:cNvSpPr txBox="1"/>
          <p:nvPr/>
        </p:nvSpPr>
        <p:spPr>
          <a:xfrm>
            <a:off x="1308847" y="5332005"/>
            <a:ext cx="1255058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improvement.</a:t>
            </a:r>
          </a:p>
        </p:txBody>
      </p:sp>
      <p:sp>
        <p:nvSpPr>
          <p:cNvPr id="17" name="Slide 06 Text 15: Competitive view"/>
          <p:cNvSpPr txBox="1"/>
          <p:nvPr/>
        </p:nvSpPr>
        <p:spPr>
          <a:xfrm>
            <a:off x="4356846" y="4793418"/>
            <a:ext cx="204395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Competitive view</a:t>
            </a:r>
          </a:p>
        </p:txBody>
      </p:sp>
      <p:sp>
        <p:nvSpPr>
          <p:cNvPr id="18" name="Slide 06 Text 16: •"/>
          <p:cNvSpPr txBox="1"/>
          <p:nvPr/>
        </p:nvSpPr>
        <p:spPr>
          <a:xfrm>
            <a:off x="4356846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9" name="Slide 06 Text 17: CTT benchmarked vs peers."/>
          <p:cNvSpPr txBox="1"/>
          <p:nvPr/>
        </p:nvSpPr>
        <p:spPr>
          <a:xfrm>
            <a:off x="4518211" y="5134523"/>
            <a:ext cx="24204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CTT benchmarked vs peers.</a:t>
            </a:r>
          </a:p>
        </p:txBody>
      </p:sp>
      <p:sp>
        <p:nvSpPr>
          <p:cNvPr id="20" name="Slide 06 Text 18: •"/>
          <p:cNvSpPr txBox="1"/>
          <p:nvPr/>
        </p:nvSpPr>
        <p:spPr>
          <a:xfrm>
            <a:off x="4356846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1" name="Slide 06 Text 19: Direct labels avoid a legend."/>
          <p:cNvSpPr txBox="1"/>
          <p:nvPr/>
        </p:nvSpPr>
        <p:spPr>
          <a:xfrm>
            <a:off x="4518211" y="5349958"/>
            <a:ext cx="2402541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Direct labels avoid a legend.</a:t>
            </a:r>
          </a:p>
        </p:txBody>
      </p:sp>
      <p:sp>
        <p:nvSpPr>
          <p:cNvPr id="22" name="Slide 06 Text 20: Retention risk"/>
          <p:cNvSpPr txBox="1"/>
          <p:nvPr/>
        </p:nvSpPr>
        <p:spPr>
          <a:xfrm>
            <a:off x="8426823" y="4793418"/>
            <a:ext cx="1703294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Retention risk</a:t>
            </a:r>
          </a:p>
        </p:txBody>
      </p:sp>
      <p:sp>
        <p:nvSpPr>
          <p:cNvPr id="23" name="Slide 06 Text 21: •"/>
          <p:cNvSpPr txBox="1"/>
          <p:nvPr/>
        </p:nvSpPr>
        <p:spPr>
          <a:xfrm>
            <a:off x="8426823" y="5116570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4" name="Slide 06 Text 22: Support KPIs show friction."/>
          <p:cNvSpPr txBox="1"/>
          <p:nvPr/>
        </p:nvSpPr>
        <p:spPr>
          <a:xfrm>
            <a:off x="8606117" y="5116570"/>
            <a:ext cx="2330823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Support KPIs show friction.</a:t>
            </a:r>
          </a:p>
        </p:txBody>
      </p:sp>
      <p:sp>
        <p:nvSpPr>
          <p:cNvPr id="25" name="Slide 06 Text 23: •"/>
          <p:cNvSpPr txBox="1"/>
          <p:nvPr/>
        </p:nvSpPr>
        <p:spPr>
          <a:xfrm>
            <a:off x="8426823" y="5332005"/>
            <a:ext cx="2868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6" name="Slide 06 Text 24: Satisfaction flags churn risk."/>
          <p:cNvSpPr txBox="1"/>
          <p:nvPr/>
        </p:nvSpPr>
        <p:spPr>
          <a:xfrm>
            <a:off x="8606117" y="5332005"/>
            <a:ext cx="2402541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Satisfaction flags churn risk.</a:t>
            </a:r>
          </a:p>
        </p:txBody>
      </p:sp>
      <p:sp>
        <p:nvSpPr>
          <p:cNvPr id="27" name="Slide 06 Text 25: 6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59152" y="1579853"/>
            <a:ext cx="2563905" cy="101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Slide 07 Image 1" descr="slide-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47" y="1615759"/>
            <a:ext cx="2976282" cy="3375141"/>
          </a:xfrm>
          <a:prstGeom prst="rect">
            <a:avLst/>
          </a:prstGeom>
        </p:spPr>
      </p:pic>
      <p:pic>
        <p:nvPicPr>
          <p:cNvPr id="4" name="Slide 07 Image 2" descr="slide-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29" y="1615759"/>
            <a:ext cx="2438399" cy="4416408"/>
          </a:xfrm>
          <a:prstGeom prst="rect">
            <a:avLst/>
          </a:prstGeom>
        </p:spPr>
      </p:pic>
      <p:sp>
        <p:nvSpPr>
          <p:cNvPr id="5" name="Slide 07 Text 2: Executive Summary"/>
          <p:cNvSpPr txBox="1"/>
          <p:nvPr/>
        </p:nvSpPr>
        <p:spPr>
          <a:xfrm>
            <a:off x="233082" y="251340"/>
            <a:ext cx="3657599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Executive Summary</a:t>
            </a:r>
          </a:p>
        </p:txBody>
      </p:sp>
      <p:sp>
        <p:nvSpPr>
          <p:cNvPr id="6" name="Slide 07 Text 3: Finance:"/>
          <p:cNvSpPr txBox="1"/>
          <p:nvPr/>
        </p:nvSpPr>
        <p:spPr>
          <a:xfrm>
            <a:off x="358588" y="5134523"/>
            <a:ext cx="914399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14141"/>
                </a:solidFill>
                <a:latin typeface="Nimbus Sans"/>
              </a:rPr>
              <a:t>Finance:</a:t>
            </a:r>
          </a:p>
        </p:txBody>
      </p:sp>
      <p:sp>
        <p:nvSpPr>
          <p:cNvPr id="7" name="Slide 07 Text 4: revenue, OPEX, and EBITDA stay v"/>
          <p:cNvSpPr txBox="1"/>
          <p:nvPr/>
        </p:nvSpPr>
        <p:spPr>
          <a:xfrm>
            <a:off x="1147482" y="5134523"/>
            <a:ext cx="36396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revenue, OPEX, and EBITDA stay visible as</a:t>
            </a:r>
          </a:p>
        </p:txBody>
      </p:sp>
      <p:sp>
        <p:nvSpPr>
          <p:cNvPr id="8" name="Slide 07 Text 5: executive context."/>
          <p:cNvSpPr txBox="1"/>
          <p:nvPr/>
        </p:nvSpPr>
        <p:spPr>
          <a:xfrm>
            <a:off x="1775011" y="5349958"/>
            <a:ext cx="1577788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executive context.</a:t>
            </a:r>
          </a:p>
        </p:txBody>
      </p:sp>
      <p:sp>
        <p:nvSpPr>
          <p:cNvPr id="9" name="Slide 07 Text 6: Executive read"/>
          <p:cNvSpPr txBox="1"/>
          <p:nvPr/>
        </p:nvSpPr>
        <p:spPr>
          <a:xfrm>
            <a:off x="9359152" y="1256701"/>
            <a:ext cx="1613647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Executive read</a:t>
            </a:r>
          </a:p>
        </p:txBody>
      </p:sp>
      <p:sp>
        <p:nvSpPr>
          <p:cNvPr id="10" name="Slide 07 Text 7: 01"/>
          <p:cNvSpPr txBox="1"/>
          <p:nvPr/>
        </p:nvSpPr>
        <p:spPr>
          <a:xfrm>
            <a:off x="9359152" y="2028675"/>
            <a:ext cx="412376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01</a:t>
            </a:r>
          </a:p>
        </p:txBody>
      </p:sp>
      <p:sp>
        <p:nvSpPr>
          <p:cNvPr id="11" name="Slide 07 Text 8: Financial health"/>
          <p:cNvSpPr txBox="1"/>
          <p:nvPr/>
        </p:nvSpPr>
        <p:spPr>
          <a:xfrm>
            <a:off x="9735670" y="2028675"/>
            <a:ext cx="1613647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Financial health</a:t>
            </a:r>
          </a:p>
        </p:txBody>
      </p:sp>
      <p:sp>
        <p:nvSpPr>
          <p:cNvPr id="12" name="Slide 07 Text 9: 02"/>
          <p:cNvSpPr txBox="1"/>
          <p:nvPr/>
        </p:nvSpPr>
        <p:spPr>
          <a:xfrm>
            <a:off x="9359152" y="2369780"/>
            <a:ext cx="412376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02</a:t>
            </a:r>
          </a:p>
        </p:txBody>
      </p:sp>
      <p:sp>
        <p:nvSpPr>
          <p:cNvPr id="13" name="Slide 07 Text 10: Subscriber base"/>
          <p:cNvSpPr txBox="1"/>
          <p:nvPr/>
        </p:nvSpPr>
        <p:spPr>
          <a:xfrm>
            <a:off x="9735670" y="2369780"/>
            <a:ext cx="164950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Subscriber base</a:t>
            </a:r>
          </a:p>
        </p:txBody>
      </p:sp>
      <p:sp>
        <p:nvSpPr>
          <p:cNvPr id="14" name="Slide 07 Text 11: 03"/>
          <p:cNvSpPr txBox="1"/>
          <p:nvPr/>
        </p:nvSpPr>
        <p:spPr>
          <a:xfrm>
            <a:off x="9359152" y="2728837"/>
            <a:ext cx="412376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03</a:t>
            </a:r>
          </a:p>
        </p:txBody>
      </p:sp>
      <p:sp>
        <p:nvSpPr>
          <p:cNvPr id="15" name="Slide 07 Text 12: Net additions"/>
          <p:cNvSpPr txBox="1"/>
          <p:nvPr/>
        </p:nvSpPr>
        <p:spPr>
          <a:xfrm>
            <a:off x="9735670" y="2728837"/>
            <a:ext cx="13626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Net additions</a:t>
            </a:r>
          </a:p>
        </p:txBody>
      </p:sp>
      <p:sp>
        <p:nvSpPr>
          <p:cNvPr id="16" name="Slide 07 Text 13: Use:"/>
          <p:cNvSpPr txBox="1"/>
          <p:nvPr/>
        </p:nvSpPr>
        <p:spPr>
          <a:xfrm>
            <a:off x="9359152" y="3159706"/>
            <a:ext cx="573741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14141"/>
                </a:solidFill>
                <a:latin typeface="Nimbus Sans"/>
              </a:rPr>
              <a:t>Use:</a:t>
            </a:r>
          </a:p>
        </p:txBody>
      </p:sp>
      <p:sp>
        <p:nvSpPr>
          <p:cNvPr id="17" name="Slide 07 Text 14: company context for the"/>
          <p:cNvSpPr txBox="1"/>
          <p:nvPr/>
        </p:nvSpPr>
        <p:spPr>
          <a:xfrm>
            <a:off x="9807387" y="3159706"/>
            <a:ext cx="2061882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company context for the</a:t>
            </a:r>
          </a:p>
        </p:txBody>
      </p:sp>
      <p:sp>
        <p:nvSpPr>
          <p:cNvPr id="18" name="Slide 07 Text 15: three goal rows."/>
          <p:cNvSpPr txBox="1"/>
          <p:nvPr/>
        </p:nvSpPr>
        <p:spPr>
          <a:xfrm>
            <a:off x="9359152" y="3375141"/>
            <a:ext cx="1434352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three goal rows.</a:t>
            </a:r>
          </a:p>
        </p:txBody>
      </p:sp>
      <p:sp>
        <p:nvSpPr>
          <p:cNvPr id="19" name="Slide 07 Text 16: Do not use:"/>
          <p:cNvSpPr txBox="1"/>
          <p:nvPr/>
        </p:nvSpPr>
        <p:spPr>
          <a:xfrm>
            <a:off x="9359152" y="3680340"/>
            <a:ext cx="1165411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14141"/>
                </a:solidFill>
                <a:latin typeface="Nimbus Sans"/>
              </a:rPr>
              <a:t>Do not use:</a:t>
            </a:r>
          </a:p>
        </p:txBody>
      </p:sp>
      <p:sp>
        <p:nvSpPr>
          <p:cNvPr id="20" name="Slide 07 Text 17: detailed diagnosis"/>
          <p:cNvSpPr txBox="1"/>
          <p:nvPr/>
        </p:nvSpPr>
        <p:spPr>
          <a:xfrm>
            <a:off x="10399058" y="3680340"/>
            <a:ext cx="1613647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detailed diagnosis</a:t>
            </a:r>
          </a:p>
        </p:txBody>
      </p:sp>
      <p:sp>
        <p:nvSpPr>
          <p:cNvPr id="21" name="Slide 07 Text 18: by itself."/>
          <p:cNvSpPr txBox="1"/>
          <p:nvPr/>
        </p:nvSpPr>
        <p:spPr>
          <a:xfrm>
            <a:off x="9359152" y="3895774"/>
            <a:ext cx="824752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by itself.</a:t>
            </a:r>
          </a:p>
        </p:txBody>
      </p:sp>
      <p:sp>
        <p:nvSpPr>
          <p:cNvPr id="22" name="Slide 07 Text 19: 7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 08 Image 1" descr="slide-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82" y="1579853"/>
            <a:ext cx="4392705" cy="3446952"/>
          </a:xfrm>
          <a:prstGeom prst="rect">
            <a:avLst/>
          </a:prstGeom>
        </p:spPr>
      </p:pic>
      <p:pic>
        <p:nvPicPr>
          <p:cNvPr id="3" name="Slide 08 Image 2" descr="slide-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740" y="1579853"/>
            <a:ext cx="3047999" cy="3446952"/>
          </a:xfrm>
          <a:prstGeom prst="rect">
            <a:avLst/>
          </a:prstGeom>
        </p:spPr>
      </p:pic>
      <p:sp>
        <p:nvSpPr>
          <p:cNvPr id="4" name="Slide 08 Text 1: Why This Works: Compact but Info"/>
          <p:cNvSpPr txBox="1"/>
          <p:nvPr/>
        </p:nvSpPr>
        <p:spPr>
          <a:xfrm>
            <a:off x="233082" y="251340"/>
            <a:ext cx="7548282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Why This Works: Compact but Informative</a:t>
            </a:r>
          </a:p>
        </p:txBody>
      </p:sp>
      <p:sp>
        <p:nvSpPr>
          <p:cNvPr id="5" name="Slide 08 Text 2: Direct labels."/>
          <p:cNvSpPr txBox="1"/>
          <p:nvPr/>
        </p:nvSpPr>
        <p:spPr>
          <a:xfrm>
            <a:off x="268941" y="5349958"/>
            <a:ext cx="1452282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Direct labels.</a:t>
            </a:r>
          </a:p>
        </p:txBody>
      </p:sp>
      <p:sp>
        <p:nvSpPr>
          <p:cNvPr id="6" name="Slide 08 Text 3: Line-end labels remove the legen"/>
          <p:cNvSpPr txBox="1"/>
          <p:nvPr/>
        </p:nvSpPr>
        <p:spPr>
          <a:xfrm>
            <a:off x="1613647" y="5349958"/>
            <a:ext cx="5342964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Line-end labels remove the legend lookup and keep each</a:t>
            </a:r>
          </a:p>
        </p:txBody>
      </p:sp>
      <p:sp>
        <p:nvSpPr>
          <p:cNvPr id="7" name="Slide 08 Text 4: series attached to its endpoint."/>
          <p:cNvSpPr txBox="1"/>
          <p:nvPr/>
        </p:nvSpPr>
        <p:spPr>
          <a:xfrm>
            <a:off x="268941" y="5601298"/>
            <a:ext cx="2940423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series attached to its endpoint.</a:t>
            </a:r>
          </a:p>
        </p:txBody>
      </p:sp>
      <p:sp>
        <p:nvSpPr>
          <p:cNvPr id="8" name="Slide 08 Text 5: Small KPI cards."/>
          <p:cNvSpPr txBox="1"/>
          <p:nvPr/>
        </p:nvSpPr>
        <p:spPr>
          <a:xfrm>
            <a:off x="7494493" y="5349958"/>
            <a:ext cx="1775011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Small KPI cards.</a:t>
            </a:r>
          </a:p>
        </p:txBody>
      </p:sp>
      <p:sp>
        <p:nvSpPr>
          <p:cNvPr id="9" name="Slide 08 Text 6: Sparklines add trend context"/>
          <p:cNvSpPr txBox="1"/>
          <p:nvPr/>
        </p:nvSpPr>
        <p:spPr>
          <a:xfrm>
            <a:off x="9161929" y="5349958"/>
            <a:ext cx="2761129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Sparklines add trend context</a:t>
            </a:r>
          </a:p>
        </p:txBody>
      </p:sp>
      <p:sp>
        <p:nvSpPr>
          <p:cNvPr id="10" name="Slide 08 Text 7: while keeping four support measu"/>
          <p:cNvSpPr txBox="1"/>
          <p:nvPr/>
        </p:nvSpPr>
        <p:spPr>
          <a:xfrm>
            <a:off x="7494493" y="5601298"/>
            <a:ext cx="4338917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while keeping four support measures in a tight</a:t>
            </a:r>
          </a:p>
        </p:txBody>
      </p:sp>
      <p:sp>
        <p:nvSpPr>
          <p:cNvPr id="11" name="Slide 08 Text 8: space."/>
          <p:cNvSpPr txBox="1"/>
          <p:nvPr/>
        </p:nvSpPr>
        <p:spPr>
          <a:xfrm>
            <a:off x="7494493" y="5870591"/>
            <a:ext cx="770964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space.</a:t>
            </a:r>
          </a:p>
        </p:txBody>
      </p:sp>
      <p:sp>
        <p:nvSpPr>
          <p:cNvPr id="12" name="Slide 08 Text 9: 8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1831193"/>
            <a:ext cx="5916705" cy="3159706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1831193"/>
            <a:ext cx="5916705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lide 09 Image 1" descr="slide-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29" y="1903005"/>
            <a:ext cx="4805082" cy="3500811"/>
          </a:xfrm>
          <a:prstGeom prst="rect">
            <a:avLst/>
          </a:prstGeom>
        </p:spPr>
      </p:pic>
      <p:sp>
        <p:nvSpPr>
          <p:cNvPr id="5" name="Slide 09 Text 3: Layout Supports Quick Reading"/>
          <p:cNvSpPr txBox="1"/>
          <p:nvPr/>
        </p:nvSpPr>
        <p:spPr>
          <a:xfrm>
            <a:off x="233082" y="251340"/>
            <a:ext cx="5737411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Layout Supports Quick Reading</a:t>
            </a:r>
          </a:p>
        </p:txBody>
      </p:sp>
      <p:sp>
        <p:nvSpPr>
          <p:cNvPr id="6" name="Slide 09 Text 4: Design principles used"/>
          <p:cNvSpPr txBox="1"/>
          <p:nvPr/>
        </p:nvSpPr>
        <p:spPr>
          <a:xfrm>
            <a:off x="268941" y="1831193"/>
            <a:ext cx="26894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Design principles used</a:t>
            </a:r>
          </a:p>
        </p:txBody>
      </p:sp>
      <p:sp>
        <p:nvSpPr>
          <p:cNvPr id="7" name="Slide 09 Text 5: •"/>
          <p:cNvSpPr txBox="1"/>
          <p:nvPr/>
        </p:nvSpPr>
        <p:spPr>
          <a:xfrm>
            <a:off x="537882" y="2172298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8" name="Slide 09 Text 6: Proximity"/>
          <p:cNvSpPr txBox="1"/>
          <p:nvPr/>
        </p:nvSpPr>
        <p:spPr>
          <a:xfrm>
            <a:off x="806823" y="2226157"/>
            <a:ext cx="12191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Proximity</a:t>
            </a:r>
          </a:p>
        </p:txBody>
      </p:sp>
      <p:sp>
        <p:nvSpPr>
          <p:cNvPr id="9" name="Slide 09 Text 7: : related charts are placed near"/>
          <p:cNvSpPr txBox="1"/>
          <p:nvPr/>
        </p:nvSpPr>
        <p:spPr>
          <a:xfrm>
            <a:off x="1828799" y="2226157"/>
            <a:ext cx="3818964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: related charts are placed near one</a:t>
            </a:r>
          </a:p>
        </p:txBody>
      </p:sp>
      <p:sp>
        <p:nvSpPr>
          <p:cNvPr id="10" name="Slide 09 Text 8: another."/>
          <p:cNvSpPr txBox="1"/>
          <p:nvPr/>
        </p:nvSpPr>
        <p:spPr>
          <a:xfrm>
            <a:off x="806823" y="2531356"/>
            <a:ext cx="1004047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another.</a:t>
            </a:r>
          </a:p>
        </p:txBody>
      </p:sp>
      <p:sp>
        <p:nvSpPr>
          <p:cNvPr id="11" name="Slide 09 Text 9: •"/>
          <p:cNvSpPr txBox="1"/>
          <p:nvPr/>
        </p:nvSpPr>
        <p:spPr>
          <a:xfrm>
            <a:off x="537882" y="2872460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2" name="Slide 09 Text 10: Closure"/>
          <p:cNvSpPr txBox="1"/>
          <p:nvPr/>
        </p:nvSpPr>
        <p:spPr>
          <a:xfrm>
            <a:off x="806823" y="2926319"/>
            <a:ext cx="1039905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Closure</a:t>
            </a:r>
          </a:p>
        </p:txBody>
      </p:sp>
      <p:sp>
        <p:nvSpPr>
          <p:cNvPr id="13" name="Slide 09 Text 11: : each goal is perceived as a se"/>
          <p:cNvSpPr txBox="1"/>
          <p:nvPr/>
        </p:nvSpPr>
        <p:spPr>
          <a:xfrm>
            <a:off x="1649505" y="2926319"/>
            <a:ext cx="4052046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: each goal is perceived as a separate</a:t>
            </a:r>
          </a:p>
        </p:txBody>
      </p:sp>
      <p:sp>
        <p:nvSpPr>
          <p:cNvPr id="14" name="Slide 09 Text 12: group."/>
          <p:cNvSpPr txBox="1"/>
          <p:nvPr/>
        </p:nvSpPr>
        <p:spPr>
          <a:xfrm>
            <a:off x="806823" y="3213565"/>
            <a:ext cx="82475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group.</a:t>
            </a:r>
          </a:p>
        </p:txBody>
      </p:sp>
      <p:sp>
        <p:nvSpPr>
          <p:cNvPr id="15" name="Slide 09 Text 13: •"/>
          <p:cNvSpPr txBox="1"/>
          <p:nvPr/>
        </p:nvSpPr>
        <p:spPr>
          <a:xfrm>
            <a:off x="537882" y="3572623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6" name="Slide 09 Text 14: Alignment"/>
          <p:cNvSpPr txBox="1"/>
          <p:nvPr/>
        </p:nvSpPr>
        <p:spPr>
          <a:xfrm>
            <a:off x="806823" y="3626481"/>
            <a:ext cx="1290917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Alignment</a:t>
            </a:r>
          </a:p>
        </p:txBody>
      </p:sp>
      <p:sp>
        <p:nvSpPr>
          <p:cNvPr id="17" name="Slide 09 Text 15: : rows and columns make scanning"/>
          <p:cNvSpPr txBox="1"/>
          <p:nvPr/>
        </p:nvSpPr>
        <p:spPr>
          <a:xfrm>
            <a:off x="1918447" y="3626481"/>
            <a:ext cx="3765176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: rows and columns make scanning</a:t>
            </a:r>
          </a:p>
        </p:txBody>
      </p:sp>
      <p:sp>
        <p:nvSpPr>
          <p:cNvPr id="18" name="Slide 09 Text 16: predictable."/>
          <p:cNvSpPr txBox="1"/>
          <p:nvPr/>
        </p:nvSpPr>
        <p:spPr>
          <a:xfrm>
            <a:off x="806823" y="3913727"/>
            <a:ext cx="1362635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predictable.</a:t>
            </a:r>
          </a:p>
        </p:txBody>
      </p:sp>
      <p:sp>
        <p:nvSpPr>
          <p:cNvPr id="19" name="Slide 09 Text 17: •"/>
          <p:cNvSpPr txBox="1"/>
          <p:nvPr/>
        </p:nvSpPr>
        <p:spPr>
          <a:xfrm>
            <a:off x="537882" y="4272785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20" name="Slide 09 Text 18: Visual hierarchy"/>
          <p:cNvSpPr txBox="1"/>
          <p:nvPr/>
        </p:nvSpPr>
        <p:spPr>
          <a:xfrm>
            <a:off x="806823" y="4326643"/>
            <a:ext cx="1936376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4E8C"/>
                </a:solidFill>
                <a:latin typeface="Nimbus Sans"/>
              </a:rPr>
              <a:t>Visual hierarchy</a:t>
            </a:r>
          </a:p>
        </p:txBody>
      </p:sp>
      <p:sp>
        <p:nvSpPr>
          <p:cNvPr id="21" name="Slide 09 Text 19: : KPI cards appear first,"/>
          <p:cNvSpPr txBox="1"/>
          <p:nvPr/>
        </p:nvSpPr>
        <p:spPr>
          <a:xfrm>
            <a:off x="2563905" y="4326643"/>
            <a:ext cx="2581835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: KPI cards appear first,</a:t>
            </a:r>
          </a:p>
        </p:txBody>
      </p:sp>
      <p:sp>
        <p:nvSpPr>
          <p:cNvPr id="22" name="Slide 09 Text 20: summary stays on the right."/>
          <p:cNvSpPr txBox="1"/>
          <p:nvPr/>
        </p:nvSpPr>
        <p:spPr>
          <a:xfrm>
            <a:off x="806823" y="4613890"/>
            <a:ext cx="299421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summary stays on the right.</a:t>
            </a:r>
          </a:p>
        </p:txBody>
      </p:sp>
      <p:sp>
        <p:nvSpPr>
          <p:cNvPr id="23" name="Slide 09 Text 21: Reading paths:"/>
          <p:cNvSpPr txBox="1"/>
          <p:nvPr/>
        </p:nvSpPr>
        <p:spPr>
          <a:xfrm>
            <a:off x="268941" y="5116570"/>
            <a:ext cx="164950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Reading paths:</a:t>
            </a:r>
          </a:p>
        </p:txBody>
      </p:sp>
      <p:sp>
        <p:nvSpPr>
          <p:cNvPr id="24" name="Slide 09 Text 22: scan horizontally to analyze one"/>
          <p:cNvSpPr txBox="1"/>
          <p:nvPr/>
        </p:nvSpPr>
        <p:spPr>
          <a:xfrm>
            <a:off x="1810870" y="5116570"/>
            <a:ext cx="4052046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scan horizontally to analyze one goal; scan</a:t>
            </a:r>
          </a:p>
        </p:txBody>
      </p:sp>
      <p:sp>
        <p:nvSpPr>
          <p:cNvPr id="25" name="Slide 09 Text 23: the right column for company-wid"/>
          <p:cNvSpPr txBox="1"/>
          <p:nvPr/>
        </p:nvSpPr>
        <p:spPr>
          <a:xfrm>
            <a:off x="268941" y="5367910"/>
            <a:ext cx="3944470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the right column for company-wide status.</a:t>
            </a:r>
          </a:p>
        </p:txBody>
      </p:sp>
      <p:sp>
        <p:nvSpPr>
          <p:cNvPr id="26" name="Slide 09 Text 24: 9 / 13"/>
          <p:cNvSpPr txBox="1"/>
          <p:nvPr/>
        </p:nvSpPr>
        <p:spPr>
          <a:xfrm>
            <a:off x="11492752" y="6642565"/>
            <a:ext cx="6454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 10 Image 1" descr="slide-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1" y="1920958"/>
            <a:ext cx="7691717" cy="2046628"/>
          </a:xfrm>
          <a:prstGeom prst="rect">
            <a:avLst/>
          </a:prstGeom>
        </p:spPr>
      </p:pic>
      <p:pic>
        <p:nvPicPr>
          <p:cNvPr id="3" name="Slide 10 Image 2" descr="slide-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788" y="1885052"/>
            <a:ext cx="1954305" cy="2208204"/>
          </a:xfrm>
          <a:prstGeom prst="rect">
            <a:avLst/>
          </a:prstGeom>
        </p:spPr>
      </p:pic>
      <p:sp>
        <p:nvSpPr>
          <p:cNvPr id="4" name="Slide 10 Text 1: Chart Type Selection"/>
          <p:cNvSpPr txBox="1"/>
          <p:nvPr/>
        </p:nvSpPr>
        <p:spPr>
          <a:xfrm>
            <a:off x="233082" y="251340"/>
            <a:ext cx="3818964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Chart Type Selection</a:t>
            </a:r>
          </a:p>
        </p:txBody>
      </p:sp>
      <p:sp>
        <p:nvSpPr>
          <p:cNvPr id="5" name="Slide 10 Text 2: Goal row:"/>
          <p:cNvSpPr txBox="1"/>
          <p:nvPr/>
        </p:nvSpPr>
        <p:spPr>
          <a:xfrm>
            <a:off x="268941" y="4272785"/>
            <a:ext cx="1111623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Goal row:</a:t>
            </a:r>
          </a:p>
        </p:txBody>
      </p:sp>
      <p:sp>
        <p:nvSpPr>
          <p:cNvPr id="6" name="Slide 10 Text 3: KPI card, trend line, comparison"/>
          <p:cNvSpPr txBox="1"/>
          <p:nvPr/>
        </p:nvSpPr>
        <p:spPr>
          <a:xfrm>
            <a:off x="1272988" y="4272785"/>
            <a:ext cx="6418729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KPI card, trend line, comparison bars, and target line are read as one</a:t>
            </a:r>
          </a:p>
        </p:txBody>
      </p:sp>
      <p:sp>
        <p:nvSpPr>
          <p:cNvPr id="7" name="Slide 10 Text 4: decision unit."/>
          <p:cNvSpPr txBox="1"/>
          <p:nvPr/>
        </p:nvSpPr>
        <p:spPr>
          <a:xfrm>
            <a:off x="268941" y="4524125"/>
            <a:ext cx="13626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decision unit.</a:t>
            </a:r>
          </a:p>
        </p:txBody>
      </p:sp>
      <p:sp>
        <p:nvSpPr>
          <p:cNvPr id="8" name="Slide 10 Text 5: KPI cards:"/>
          <p:cNvSpPr txBox="1"/>
          <p:nvPr/>
        </p:nvSpPr>
        <p:spPr>
          <a:xfrm>
            <a:off x="8426823" y="4416408"/>
            <a:ext cx="1183341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KPI cards:</a:t>
            </a:r>
          </a:p>
        </p:txBody>
      </p:sp>
      <p:sp>
        <p:nvSpPr>
          <p:cNvPr id="9" name="Slide 10 Text 6: sparklines provide"/>
          <p:cNvSpPr txBox="1"/>
          <p:nvPr/>
        </p:nvSpPr>
        <p:spPr>
          <a:xfrm>
            <a:off x="9502587" y="4416408"/>
            <a:ext cx="1828799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sparklines provide</a:t>
            </a:r>
          </a:p>
        </p:txBody>
      </p:sp>
      <p:sp>
        <p:nvSpPr>
          <p:cNvPr id="10" name="Slide 10 Text 7: compact trend context without op"/>
          <p:cNvSpPr txBox="1"/>
          <p:nvPr/>
        </p:nvSpPr>
        <p:spPr>
          <a:xfrm>
            <a:off x="8426823" y="4667748"/>
            <a:ext cx="3657599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compact trend context without opening</a:t>
            </a:r>
          </a:p>
        </p:txBody>
      </p:sp>
      <p:sp>
        <p:nvSpPr>
          <p:cNvPr id="11" name="Slide 10 Text 8: a separate chart."/>
          <p:cNvSpPr txBox="1"/>
          <p:nvPr/>
        </p:nvSpPr>
        <p:spPr>
          <a:xfrm>
            <a:off x="8426823" y="4919089"/>
            <a:ext cx="1721223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a separate chart.</a:t>
            </a:r>
          </a:p>
        </p:txBody>
      </p:sp>
      <p:sp>
        <p:nvSpPr>
          <p:cNvPr id="12" name="Slide 10 Text 9: Line charts"/>
          <p:cNvSpPr txBox="1"/>
          <p:nvPr/>
        </p:nvSpPr>
        <p:spPr>
          <a:xfrm>
            <a:off x="268941" y="5224287"/>
            <a:ext cx="127298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Line charts</a:t>
            </a:r>
          </a:p>
        </p:txBody>
      </p:sp>
      <p:sp>
        <p:nvSpPr>
          <p:cNvPr id="13" name="Slide 10 Text 10: Trends over time."/>
          <p:cNvSpPr txBox="1"/>
          <p:nvPr/>
        </p:nvSpPr>
        <p:spPr>
          <a:xfrm>
            <a:off x="268941" y="5439722"/>
            <a:ext cx="1541929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Trends over time.</a:t>
            </a:r>
          </a:p>
        </p:txBody>
      </p:sp>
      <p:sp>
        <p:nvSpPr>
          <p:cNvPr id="14" name="Slide 10 Text 11: Bar charts"/>
          <p:cNvSpPr txBox="1"/>
          <p:nvPr/>
        </p:nvSpPr>
        <p:spPr>
          <a:xfrm>
            <a:off x="3263152" y="5224287"/>
            <a:ext cx="1183341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Bar charts</a:t>
            </a:r>
          </a:p>
        </p:txBody>
      </p:sp>
      <p:sp>
        <p:nvSpPr>
          <p:cNvPr id="15" name="Slide 10 Text 12: Category and target comparisons."/>
          <p:cNvSpPr txBox="1"/>
          <p:nvPr/>
        </p:nvSpPr>
        <p:spPr>
          <a:xfrm>
            <a:off x="3263152" y="5439722"/>
            <a:ext cx="286870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Category and target comparisons.</a:t>
            </a:r>
          </a:p>
        </p:txBody>
      </p:sp>
      <p:sp>
        <p:nvSpPr>
          <p:cNvPr id="16" name="Slide 10 Text 13: Sparklines"/>
          <p:cNvSpPr txBox="1"/>
          <p:nvPr/>
        </p:nvSpPr>
        <p:spPr>
          <a:xfrm>
            <a:off x="6257364" y="5224287"/>
            <a:ext cx="1201270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Sparklines</a:t>
            </a:r>
          </a:p>
        </p:txBody>
      </p:sp>
      <p:sp>
        <p:nvSpPr>
          <p:cNvPr id="17" name="Slide 10 Text 14: Compact trend cues."/>
          <p:cNvSpPr txBox="1"/>
          <p:nvPr/>
        </p:nvSpPr>
        <p:spPr>
          <a:xfrm>
            <a:off x="6257364" y="5439722"/>
            <a:ext cx="1828799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Compact trend cues.</a:t>
            </a:r>
          </a:p>
        </p:txBody>
      </p:sp>
      <p:sp>
        <p:nvSpPr>
          <p:cNvPr id="18" name="Slide 10 Text 15: Target lines"/>
          <p:cNvSpPr txBox="1"/>
          <p:nvPr/>
        </p:nvSpPr>
        <p:spPr>
          <a:xfrm>
            <a:off x="9251576" y="5224287"/>
            <a:ext cx="1308847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4E8C"/>
                </a:solidFill>
                <a:latin typeface="Nimbus Sans"/>
              </a:rPr>
              <a:t>Target lines</a:t>
            </a:r>
          </a:p>
        </p:txBody>
      </p:sp>
      <p:sp>
        <p:nvSpPr>
          <p:cNvPr id="19" name="Slide 10 Text 16: Current values versus benchmark."/>
          <p:cNvSpPr txBox="1"/>
          <p:nvPr/>
        </p:nvSpPr>
        <p:spPr>
          <a:xfrm>
            <a:off x="9251576" y="5439722"/>
            <a:ext cx="286870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Current values versus benchmark.</a:t>
            </a:r>
          </a:p>
        </p:txBody>
      </p:sp>
      <p:sp>
        <p:nvSpPr>
          <p:cNvPr id="20" name="Slide 10 Text 17: 10 / 13"/>
          <p:cNvSpPr txBox="1"/>
          <p:nvPr/>
        </p:nvSpPr>
        <p:spPr>
          <a:xfrm>
            <a:off x="11367246" y="6642565"/>
            <a:ext cx="7530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 11 Image 1" descr="slide-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29" y="1687570"/>
            <a:ext cx="3765176" cy="3177659"/>
          </a:xfrm>
          <a:prstGeom prst="rect">
            <a:avLst/>
          </a:prstGeom>
        </p:spPr>
      </p:pic>
      <p:pic>
        <p:nvPicPr>
          <p:cNvPr id="3" name="Slide 11 Image 2" descr="slide-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764" y="1687570"/>
            <a:ext cx="3801035" cy="3177659"/>
          </a:xfrm>
          <a:prstGeom prst="rect">
            <a:avLst/>
          </a:prstGeom>
        </p:spPr>
      </p:pic>
      <p:sp>
        <p:nvSpPr>
          <p:cNvPr id="4" name="Slide 11 Text 1: Critique and Design Lessons"/>
          <p:cNvSpPr txBox="1"/>
          <p:nvPr/>
        </p:nvSpPr>
        <p:spPr>
          <a:xfrm>
            <a:off x="233082" y="251340"/>
            <a:ext cx="5235388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Critique and Design Lessons</a:t>
            </a:r>
          </a:p>
        </p:txBody>
      </p:sp>
      <p:sp>
        <p:nvSpPr>
          <p:cNvPr id="5" name="Slide 11 Text 2: Problem:"/>
          <p:cNvSpPr txBox="1"/>
          <p:nvPr/>
        </p:nvSpPr>
        <p:spPr>
          <a:xfrm>
            <a:off x="268941" y="5188382"/>
            <a:ext cx="10578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Problem:</a:t>
            </a:r>
          </a:p>
        </p:txBody>
      </p:sp>
      <p:sp>
        <p:nvSpPr>
          <p:cNvPr id="6" name="Slide 11 Text 3: overlapping lines are hard to tr"/>
          <p:cNvSpPr txBox="1"/>
          <p:nvPr/>
        </p:nvSpPr>
        <p:spPr>
          <a:xfrm>
            <a:off x="1219199" y="5188382"/>
            <a:ext cx="4500282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overlapping lines are hard to trace when several</a:t>
            </a:r>
          </a:p>
        </p:txBody>
      </p:sp>
      <p:sp>
        <p:nvSpPr>
          <p:cNvPr id="7" name="Slide 11 Text 4: regions cross in the same plot."/>
          <p:cNvSpPr txBox="1"/>
          <p:nvPr/>
        </p:nvSpPr>
        <p:spPr>
          <a:xfrm>
            <a:off x="268941" y="5457675"/>
            <a:ext cx="2940423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regions cross in the same plot.</a:t>
            </a:r>
          </a:p>
        </p:txBody>
      </p:sp>
      <p:sp>
        <p:nvSpPr>
          <p:cNvPr id="8" name="Slide 11 Text 5: Fix:"/>
          <p:cNvSpPr txBox="1"/>
          <p:nvPr/>
        </p:nvSpPr>
        <p:spPr>
          <a:xfrm>
            <a:off x="6221505" y="5188382"/>
            <a:ext cx="537882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Fix:</a:t>
            </a:r>
          </a:p>
        </p:txBody>
      </p:sp>
      <p:sp>
        <p:nvSpPr>
          <p:cNvPr id="9" name="Slide 11 Text 6: split dense series into small mu"/>
          <p:cNvSpPr txBox="1"/>
          <p:nvPr/>
        </p:nvSpPr>
        <p:spPr>
          <a:xfrm>
            <a:off x="6651811" y="5188382"/>
            <a:ext cx="493058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split dense series into small multiples so each region</a:t>
            </a:r>
          </a:p>
        </p:txBody>
      </p:sp>
      <p:sp>
        <p:nvSpPr>
          <p:cNvPr id="10" name="Slide 11 Text 7: keeps a consistent time axis."/>
          <p:cNvSpPr txBox="1"/>
          <p:nvPr/>
        </p:nvSpPr>
        <p:spPr>
          <a:xfrm>
            <a:off x="6221505" y="5439722"/>
            <a:ext cx="2779058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0" i="0">
                <a:solidFill>
                  <a:srgbClr val="414141"/>
                </a:solidFill>
                <a:latin typeface="Nimbus Sans"/>
              </a:rPr>
              <a:t>keeps a consistent time axis.</a:t>
            </a:r>
          </a:p>
        </p:txBody>
      </p:sp>
      <p:sp>
        <p:nvSpPr>
          <p:cNvPr id="11" name="Slide 11 Text 8: Other critiques:"/>
          <p:cNvSpPr txBox="1"/>
          <p:nvPr/>
        </p:nvSpPr>
        <p:spPr>
          <a:xfrm>
            <a:off x="268941" y="5726968"/>
            <a:ext cx="1506070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14141"/>
                </a:solidFill>
                <a:latin typeface="Nimbus Sans"/>
              </a:rPr>
              <a:t>Other critiques:</a:t>
            </a:r>
          </a:p>
        </p:txBody>
      </p:sp>
      <p:sp>
        <p:nvSpPr>
          <p:cNvPr id="12" name="Slide 11 Text 9: red/green needs a non-color cue,"/>
          <p:cNvSpPr txBox="1"/>
          <p:nvPr/>
        </p:nvSpPr>
        <p:spPr>
          <a:xfrm>
            <a:off x="1649505" y="5726968"/>
            <a:ext cx="6544235" cy="323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141"/>
                </a:solidFill>
                <a:latin typeface="Nimbus Sans"/>
              </a:rPr>
              <a:t>red/green needs a non-color cue, and emphasis colors should be used sparingly.</a:t>
            </a:r>
          </a:p>
        </p:txBody>
      </p:sp>
      <p:sp>
        <p:nvSpPr>
          <p:cNvPr id="13" name="Slide 11 Text 10: 11 / 13"/>
          <p:cNvSpPr txBox="1"/>
          <p:nvPr/>
        </p:nvSpPr>
        <p:spPr>
          <a:xfrm>
            <a:off x="11367246" y="6642565"/>
            <a:ext cx="7530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8941" y="2154345"/>
            <a:ext cx="11654117" cy="2710884"/>
          </a:xfrm>
          <a:prstGeom prst="roundRect">
            <a:avLst/>
          </a:prstGeom>
          <a:solidFill>
            <a:srgbClr val="E6EEF8"/>
          </a:solidFill>
          <a:ln w="7620">
            <a:solidFill>
              <a:srgbClr val="8C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8941" y="2154345"/>
            <a:ext cx="11654117" cy="287246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12 Text 3: Conclusion"/>
          <p:cNvSpPr txBox="1"/>
          <p:nvPr/>
        </p:nvSpPr>
        <p:spPr>
          <a:xfrm>
            <a:off x="233082" y="251340"/>
            <a:ext cx="2169458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Conclusion</a:t>
            </a:r>
          </a:p>
        </p:txBody>
      </p:sp>
      <p:sp>
        <p:nvSpPr>
          <p:cNvPr id="5" name="Slide 12 Text 4: What Chapter 27 teaches"/>
          <p:cNvSpPr txBox="1"/>
          <p:nvPr/>
        </p:nvSpPr>
        <p:spPr>
          <a:xfrm>
            <a:off x="268941" y="2154345"/>
            <a:ext cx="2904564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FFFFF"/>
                </a:solidFill>
                <a:latin typeface="Nimbus Sans"/>
              </a:rPr>
              <a:t>What Chapter 27 teaches</a:t>
            </a:r>
          </a:p>
        </p:txBody>
      </p:sp>
      <p:sp>
        <p:nvSpPr>
          <p:cNvPr id="6" name="Slide 12 Text 5: •"/>
          <p:cNvSpPr txBox="1"/>
          <p:nvPr/>
        </p:nvSpPr>
        <p:spPr>
          <a:xfrm>
            <a:off x="537882" y="2477497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7" name="Slide 12 Text 6: A good dashboard helps decision-"/>
          <p:cNvSpPr txBox="1"/>
          <p:nvPr/>
        </p:nvSpPr>
        <p:spPr>
          <a:xfrm>
            <a:off x="806823" y="2531356"/>
            <a:ext cx="11241740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A good dashboard helps decision-makers understand what is improving, what is worsening, and where action</a:t>
            </a:r>
          </a:p>
        </p:txBody>
      </p:sp>
      <p:sp>
        <p:nvSpPr>
          <p:cNvPr id="8" name="Slide 12 Text 7: is needed."/>
          <p:cNvSpPr txBox="1"/>
          <p:nvPr/>
        </p:nvSpPr>
        <p:spPr>
          <a:xfrm>
            <a:off x="806823" y="2836554"/>
            <a:ext cx="123712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is needed.</a:t>
            </a:r>
          </a:p>
        </p:txBody>
      </p:sp>
      <p:sp>
        <p:nvSpPr>
          <p:cNvPr id="9" name="Slide 12 Text 8: •"/>
          <p:cNvSpPr txBox="1"/>
          <p:nvPr/>
        </p:nvSpPr>
        <p:spPr>
          <a:xfrm>
            <a:off x="537882" y="3177659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0" name="Slide 12 Text 9: This dashboard succeeds because "/>
          <p:cNvSpPr txBox="1"/>
          <p:nvPr/>
        </p:nvSpPr>
        <p:spPr>
          <a:xfrm>
            <a:off x="806823" y="3231518"/>
            <a:ext cx="7422776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This dashboard succeeds because it follows three clear business goals.</a:t>
            </a:r>
          </a:p>
        </p:txBody>
      </p:sp>
      <p:sp>
        <p:nvSpPr>
          <p:cNvPr id="11" name="Slide 12 Text 10: •"/>
          <p:cNvSpPr txBox="1"/>
          <p:nvPr/>
        </p:nvSpPr>
        <p:spPr>
          <a:xfrm>
            <a:off x="537882" y="3590575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2" name="Slide 12 Text 11: The three-row plus one-summary-c"/>
          <p:cNvSpPr txBox="1"/>
          <p:nvPr/>
        </p:nvSpPr>
        <p:spPr>
          <a:xfrm>
            <a:off x="806823" y="3626481"/>
            <a:ext cx="724348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The three-row plus one-summary-column layout makes scanning fast.</a:t>
            </a:r>
          </a:p>
        </p:txBody>
      </p:sp>
      <p:sp>
        <p:nvSpPr>
          <p:cNvPr id="13" name="Slide 12 Text 12: •"/>
          <p:cNvSpPr txBox="1"/>
          <p:nvPr/>
        </p:nvSpPr>
        <p:spPr>
          <a:xfrm>
            <a:off x="537882" y="3985539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4" name="Slide 12 Text 13: Small charts, direct labels, and"/>
          <p:cNvSpPr txBox="1"/>
          <p:nvPr/>
        </p:nvSpPr>
        <p:spPr>
          <a:xfrm>
            <a:off x="806823" y="4039397"/>
            <a:ext cx="60959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Small charts, direct labels, and limited color reduce clutter.</a:t>
            </a:r>
          </a:p>
        </p:txBody>
      </p:sp>
      <p:sp>
        <p:nvSpPr>
          <p:cNvPr id="15" name="Slide 12 Text 14: •"/>
          <p:cNvSpPr txBox="1"/>
          <p:nvPr/>
        </p:nvSpPr>
        <p:spPr>
          <a:xfrm>
            <a:off x="537882" y="4380502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6" name="Slide 12 Text 15: The design still requires care w"/>
          <p:cNvSpPr txBox="1"/>
          <p:nvPr/>
        </p:nvSpPr>
        <p:spPr>
          <a:xfrm>
            <a:off x="806823" y="4434361"/>
            <a:ext cx="907228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The design still requires care with accessibility, overlapping lines, and chart consistency.</a:t>
            </a:r>
          </a:p>
        </p:txBody>
      </p:sp>
      <p:sp>
        <p:nvSpPr>
          <p:cNvPr id="17" name="Slide 12 Text 16: 12 / 13"/>
          <p:cNvSpPr txBox="1"/>
          <p:nvPr/>
        </p:nvSpPr>
        <p:spPr>
          <a:xfrm>
            <a:off x="11367246" y="6642565"/>
            <a:ext cx="7530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13 Text 1: References"/>
          <p:cNvSpPr txBox="1"/>
          <p:nvPr/>
        </p:nvSpPr>
        <p:spPr>
          <a:xfrm>
            <a:off x="233082" y="251340"/>
            <a:ext cx="2151529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4E8C"/>
                </a:solidFill>
                <a:latin typeface="Nimbus Sans"/>
              </a:rPr>
              <a:t>References</a:t>
            </a:r>
          </a:p>
        </p:txBody>
      </p:sp>
      <p:sp>
        <p:nvSpPr>
          <p:cNvPr id="3" name="Slide 13 Text 2: •"/>
          <p:cNvSpPr txBox="1"/>
          <p:nvPr/>
        </p:nvSpPr>
        <p:spPr>
          <a:xfrm>
            <a:off x="537882" y="1561900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4" name="Slide 13 Text 3: Steve Wexler, Jeffrey Shaffer, A"/>
          <p:cNvSpPr txBox="1"/>
          <p:nvPr/>
        </p:nvSpPr>
        <p:spPr>
          <a:xfrm>
            <a:off x="806823" y="1615759"/>
            <a:ext cx="491265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Steve Wexler, Jeffrey Shaffer, Andy Cotgreave.</a:t>
            </a:r>
          </a:p>
        </p:txBody>
      </p:sp>
      <p:sp>
        <p:nvSpPr>
          <p:cNvPr id="5" name="Slide 13 Text 4: The Big Book of Dashboards"/>
          <p:cNvSpPr txBox="1"/>
          <p:nvPr/>
        </p:nvSpPr>
        <p:spPr>
          <a:xfrm>
            <a:off x="5611905" y="1615759"/>
            <a:ext cx="310178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1">
                <a:solidFill>
                  <a:srgbClr val="414141"/>
                </a:solidFill>
                <a:latin typeface="Nimbus Sans"/>
              </a:rPr>
              <a:t>The Big Book of Dashboards</a:t>
            </a:r>
          </a:p>
        </p:txBody>
      </p:sp>
      <p:sp>
        <p:nvSpPr>
          <p:cNvPr id="6" name="Slide 13 Text 5: , Chapter 27: Telecom Operator"/>
          <p:cNvSpPr txBox="1"/>
          <p:nvPr/>
        </p:nvSpPr>
        <p:spPr>
          <a:xfrm>
            <a:off x="8552329" y="1615759"/>
            <a:ext cx="3406588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, Chapter 27: Telecom Operator</a:t>
            </a:r>
          </a:p>
        </p:txBody>
      </p:sp>
      <p:sp>
        <p:nvSpPr>
          <p:cNvPr id="7" name="Slide 13 Text 6: Executive Dashboard."/>
          <p:cNvSpPr txBox="1"/>
          <p:nvPr/>
        </p:nvSpPr>
        <p:spPr>
          <a:xfrm>
            <a:off x="806823" y="1903005"/>
            <a:ext cx="2402541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Executive Dashboard.</a:t>
            </a:r>
          </a:p>
        </p:txBody>
      </p:sp>
      <p:sp>
        <p:nvSpPr>
          <p:cNvPr id="8" name="Slide 13 Text 7: •"/>
          <p:cNvSpPr txBox="1"/>
          <p:nvPr/>
        </p:nvSpPr>
        <p:spPr>
          <a:xfrm>
            <a:off x="537882" y="2262062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9" name="Slide 13 Text 8: Dundas Data Visualization sample"/>
          <p:cNvSpPr txBox="1"/>
          <p:nvPr/>
        </p:nvSpPr>
        <p:spPr>
          <a:xfrm>
            <a:off x="806823" y="2297968"/>
            <a:ext cx="1007632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Dundas Data Visualization sample dashboard: Telecom / Wireless Executive Strategy Dashboard.</a:t>
            </a:r>
          </a:p>
        </p:txBody>
      </p:sp>
      <p:sp>
        <p:nvSpPr>
          <p:cNvPr id="10" name="Slide 13 Text 9: •"/>
          <p:cNvSpPr txBox="1"/>
          <p:nvPr/>
        </p:nvSpPr>
        <p:spPr>
          <a:xfrm>
            <a:off x="537882" y="2657026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1" name="Slide 13 Text 10: O’Reilly online excerpt for Chap"/>
          <p:cNvSpPr txBox="1"/>
          <p:nvPr/>
        </p:nvSpPr>
        <p:spPr>
          <a:xfrm>
            <a:off x="806823" y="2710884"/>
            <a:ext cx="4034117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O’Reilly online excerpt for Chapter 27:</a:t>
            </a:r>
          </a:p>
        </p:txBody>
      </p:sp>
      <p:sp>
        <p:nvSpPr>
          <p:cNvPr id="12" name="Slide 13 Text 11: https://www.oreilly.com/library/"/>
          <p:cNvSpPr txBox="1"/>
          <p:nvPr/>
        </p:nvSpPr>
        <p:spPr>
          <a:xfrm>
            <a:off x="806823" y="3016083"/>
            <a:ext cx="10775576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https://www.oreilly.com/library/view/the-big-book/9781119282716/c27.xhtml</a:t>
            </a:r>
          </a:p>
        </p:txBody>
      </p:sp>
      <p:sp>
        <p:nvSpPr>
          <p:cNvPr id="13" name="Slide 13 Text 12: •"/>
          <p:cNvSpPr txBox="1"/>
          <p:nvPr/>
        </p:nvSpPr>
        <p:spPr>
          <a:xfrm>
            <a:off x="537882" y="3357188"/>
            <a:ext cx="304799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004E8C"/>
                </a:solidFill>
                <a:latin typeface="Nimbus Sans"/>
              </a:rPr>
              <a:t>•</a:t>
            </a:r>
          </a:p>
        </p:txBody>
      </p:sp>
      <p:sp>
        <p:nvSpPr>
          <p:cNvPr id="14" name="Slide 13 Text 13: Dashboard design references: rel"/>
          <p:cNvSpPr txBox="1"/>
          <p:nvPr/>
        </p:nvSpPr>
        <p:spPr>
          <a:xfrm>
            <a:off x="806823" y="3411047"/>
            <a:ext cx="10954870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Dashboard design references: related metric grouping, proximity, clutter reduction, clear KPI structure, and</a:t>
            </a:r>
          </a:p>
        </p:txBody>
      </p:sp>
      <p:sp>
        <p:nvSpPr>
          <p:cNvPr id="15" name="Slide 13 Text 14: accessibility."/>
          <p:cNvSpPr txBox="1"/>
          <p:nvPr/>
        </p:nvSpPr>
        <p:spPr>
          <a:xfrm>
            <a:off x="806823" y="3698293"/>
            <a:ext cx="1434352" cy="3770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414141"/>
                </a:solidFill>
                <a:latin typeface="Nimbus Sans"/>
              </a:rPr>
              <a:t>accessibility.</a:t>
            </a:r>
          </a:p>
        </p:txBody>
      </p:sp>
      <p:sp>
        <p:nvSpPr>
          <p:cNvPr id="16" name="Slide 13 Text 15: Thank you"/>
          <p:cNvSpPr txBox="1"/>
          <p:nvPr/>
        </p:nvSpPr>
        <p:spPr>
          <a:xfrm>
            <a:off x="5253317" y="5026806"/>
            <a:ext cx="1882588" cy="502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004E8C"/>
                </a:solidFill>
                <a:latin typeface="Nimbus Sans"/>
              </a:rPr>
              <a:t>Thank you</a:t>
            </a:r>
          </a:p>
        </p:txBody>
      </p:sp>
      <p:sp>
        <p:nvSpPr>
          <p:cNvPr id="17" name="Slide 13 Text 16: 13 / 13"/>
          <p:cNvSpPr txBox="1"/>
          <p:nvPr/>
        </p:nvSpPr>
        <p:spPr>
          <a:xfrm>
            <a:off x="11367246" y="6642565"/>
            <a:ext cx="753035" cy="341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414141"/>
                </a:solidFill>
                <a:latin typeface="Nimbus San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